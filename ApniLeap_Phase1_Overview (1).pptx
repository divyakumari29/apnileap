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 rot="10800000">
            <a:off x="8458200" y="2468880"/>
            <a:ext cx="1737360" cy="1371600"/>
          </a:xfrm>
          <a:prstGeom prst="straightConnector1">
            <a:avLst/>
          </a:prstGeom>
          <a:noFill/>
          <a:ln w="19050" cap="flat" cmpd="sng">
            <a:solidFill>
              <a:srgbClr val="028090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7;p3"/>
          <p:cNvCxnSpPr/>
          <p:nvPr/>
        </p:nvCxnSpPr>
        <p:spPr>
          <a:xfrm rot="10800000" flipH="1">
            <a:off x="10195560" y="2468880"/>
            <a:ext cx="1737360" cy="1371600"/>
          </a:xfrm>
          <a:prstGeom prst="straightConnector1">
            <a:avLst/>
          </a:prstGeom>
          <a:noFill/>
          <a:ln w="19050" cap="flat" cmpd="sng">
            <a:solidFill>
              <a:srgbClr val="028090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 flipH="1">
            <a:off x="8092440" y="3840480"/>
            <a:ext cx="2103120" cy="365760"/>
          </a:xfrm>
          <a:prstGeom prst="straightConnector1">
            <a:avLst/>
          </a:prstGeom>
          <a:noFill/>
          <a:ln w="19050" cap="flat" cmpd="sng">
            <a:solidFill>
              <a:srgbClr val="028090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3"/>
          <p:cNvCxnSpPr/>
          <p:nvPr/>
        </p:nvCxnSpPr>
        <p:spPr>
          <a:xfrm>
            <a:off x="10195560" y="3840480"/>
            <a:ext cx="2103120" cy="365760"/>
          </a:xfrm>
          <a:prstGeom prst="straightConnector1">
            <a:avLst/>
          </a:prstGeom>
          <a:noFill/>
          <a:ln w="19050" cap="flat" cmpd="sng">
            <a:solidFill>
              <a:srgbClr val="028090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3"/>
          <p:cNvCxnSpPr/>
          <p:nvPr/>
        </p:nvCxnSpPr>
        <p:spPr>
          <a:xfrm flipH="1">
            <a:off x="9006840" y="3840480"/>
            <a:ext cx="1188720" cy="1737360"/>
          </a:xfrm>
          <a:prstGeom prst="straightConnector1">
            <a:avLst/>
          </a:prstGeom>
          <a:noFill/>
          <a:ln w="19050" cap="flat" cmpd="sng">
            <a:solidFill>
              <a:srgbClr val="028090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3"/>
          <p:cNvCxnSpPr/>
          <p:nvPr/>
        </p:nvCxnSpPr>
        <p:spPr>
          <a:xfrm>
            <a:off x="10195560" y="3840480"/>
            <a:ext cx="1188720" cy="1737360"/>
          </a:xfrm>
          <a:prstGeom prst="straightConnector1">
            <a:avLst/>
          </a:prstGeom>
          <a:noFill/>
          <a:ln w="19050" cap="flat" cmpd="sng">
            <a:solidFill>
              <a:srgbClr val="028090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3"/>
          <p:cNvSpPr/>
          <p:nvPr/>
        </p:nvSpPr>
        <p:spPr>
          <a:xfrm>
            <a:off x="8202168" y="2212848"/>
            <a:ext cx="512064" cy="512064"/>
          </a:xfrm>
          <a:prstGeom prst="ellipse">
            <a:avLst/>
          </a:prstGeom>
          <a:solidFill>
            <a:srgbClr val="13315C"/>
          </a:solidFill>
          <a:ln w="1905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1676888" y="2212848"/>
            <a:ext cx="512064" cy="512064"/>
          </a:xfrm>
          <a:prstGeom prst="ellipse">
            <a:avLst/>
          </a:prstGeom>
          <a:solidFill>
            <a:srgbClr val="13315C"/>
          </a:solidFill>
          <a:ln w="1905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836408" y="3950208"/>
            <a:ext cx="512064" cy="512064"/>
          </a:xfrm>
          <a:prstGeom prst="ellipse">
            <a:avLst/>
          </a:prstGeom>
          <a:solidFill>
            <a:srgbClr val="13315C"/>
          </a:solidFill>
          <a:ln w="1905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2042648" y="3950208"/>
            <a:ext cx="512064" cy="512064"/>
          </a:xfrm>
          <a:prstGeom prst="ellipse">
            <a:avLst/>
          </a:prstGeom>
          <a:solidFill>
            <a:srgbClr val="13315C"/>
          </a:solidFill>
          <a:ln w="1905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8750808" y="5321808"/>
            <a:ext cx="512064" cy="512064"/>
          </a:xfrm>
          <a:prstGeom prst="ellipse">
            <a:avLst/>
          </a:prstGeom>
          <a:solidFill>
            <a:srgbClr val="13315C"/>
          </a:solidFill>
          <a:ln w="1905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1128248" y="5321808"/>
            <a:ext cx="512064" cy="512064"/>
          </a:xfrm>
          <a:prstGeom prst="ellipse">
            <a:avLst/>
          </a:prstGeom>
          <a:solidFill>
            <a:srgbClr val="13315C"/>
          </a:solidFill>
          <a:ln w="1905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9784080" y="3429000"/>
            <a:ext cx="822960" cy="8229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3" descr="/home/claude/icons/sitema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9246" y="361416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PHASE 1 IMPLEMENTATION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40080" y="178308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ApniLeap Program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Management System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40080" y="3703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hub-and-spoke operating model built on Atlassian Cloud — one shared way for ApniLeap and its partner engineering colleges to run, track, and report Phase 1 work.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40080" y="4892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40080" y="489204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COEP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2039112" y="4892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2039112" y="489204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MMCOEP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3438144" y="4892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3438144" y="489204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837176" y="4892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4837176" y="489204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40080" y="5532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Pilot college: COEP  →  template cloned to MMCOEP, RIT &amp; KLE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23444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BIG IDEA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234440" y="676656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One System, Two Views: Hub &amp; Spoke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234440" y="132588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college does its own work in its own space. The same data automatically rolls up to give ApniLeap leadership the big picture — so nobody has to write reports twice.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914400" y="246888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0B2545"/>
          </a:solidFill>
          <a:ln>
            <a:noFill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234440" y="2788920"/>
            <a:ext cx="777240" cy="7772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" name="Google Shape;54;p4" descr="/home/claude/icons/hu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9319" y="296379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2148840" y="281635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ApniLeap HUB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148840" y="31821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APNI-HUB project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280160" y="36576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Portfolio &amp; executive dashboard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Cross-college escalations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FIP outcomes view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4" descr="/home/claude/icons/arro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4920" y="3246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4983480" y="374904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126480" y="2468880"/>
            <a:ext cx="2788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126480" y="2468880"/>
            <a:ext cx="91440" cy="8961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382512" y="2706624"/>
            <a:ext cx="420624" cy="420624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4" descr="/home/claude/icons/buildi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152" y="2801264"/>
            <a:ext cx="231343" cy="23134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6903720" y="2615184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COEP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903720" y="294436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LEAP-COEP · own board + dashboard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144000" y="2468880"/>
            <a:ext cx="2788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9144000" y="2468880"/>
            <a:ext cx="91440" cy="8961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9400032" y="2706624"/>
            <a:ext cx="420624" cy="420624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4" descr="/home/claude/icons/buildi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94672" y="2801264"/>
            <a:ext cx="231343" cy="23134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9921240" y="2615184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MMCOEP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921240" y="294436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LEAP-MMCOEP · own board + dashboard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126480" y="3529584"/>
            <a:ext cx="2788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126480" y="3529584"/>
            <a:ext cx="91440" cy="8961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382512" y="3767328"/>
            <a:ext cx="420624" cy="420624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4" descr="/home/claude/icons/buildi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152" y="3861968"/>
            <a:ext cx="231343" cy="23134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6903720" y="3675888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RIT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903720" y="400507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LEAP-RIT · own board + dashboard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9144000" y="3529584"/>
            <a:ext cx="2788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9144000" y="3529584"/>
            <a:ext cx="91440" cy="8961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9400032" y="3767328"/>
            <a:ext cx="420624" cy="420624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Google Shape;81;p4" descr="/home/claude/icons/buildi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94672" y="3861968"/>
            <a:ext cx="231343" cy="23134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9921240" y="3675888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KLE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921240" y="400507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LEAP-KLE · own board + dashboard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126480" y="4617720"/>
            <a:ext cx="5806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Each college is a "spoke" with its own Jira project, dashboard and weekly rhythm — but all four follow the identical template.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914400" y="54406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143000" y="544068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it matters:  </a:t>
            </a: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Colleges update once. Leadership sees everything. No duplicate reporting.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23444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WE BUILT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234440" y="676656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What Phase 1 Is Trying to Achieve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914400" y="1417320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188720" y="1691640"/>
            <a:ext cx="640080" cy="640080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5" descr="/home/claude/icons/targe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2339" y="18452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1938528" y="170992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Live portfolio view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88720" y="233172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real-time dashboard showing every college's progress in one place.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727448" y="1417320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5001768" y="1691640"/>
            <a:ext cx="640080" cy="640080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p5" descr="/home/claude/icons/dashboar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5387" y="18452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5751576" y="170992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Each college in control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001768" y="233172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college gets its own working board and execution dashboard.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540496" y="1417320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8814816" y="1691640"/>
            <a:ext cx="640080" cy="640080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5" descr="/home/claude/icons/laye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68435" y="18452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9564624" y="170992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One shared language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814816" y="233172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15 standard workstreams so every college reports the same way.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914400" y="3300984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188720" y="3575304"/>
            <a:ext cx="640080" cy="640080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5" descr="/home/claude/icons/chartlin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42339" y="3728923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1938528" y="3593592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Track readiness &amp; outcomes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188720" y="4215384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Monitor FIP inputs and outputs leadership can review monthly.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727448" y="3300984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5001768" y="3575304"/>
            <a:ext cx="640080" cy="640080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5" descr="/home/claude/icons/sync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55387" y="3728923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5751576" y="3593592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No double reporting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001768" y="4215384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Jira is the single source of truth; Confluence tells the story.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540496" y="3300984"/>
            <a:ext cx="35204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814816" y="3575304"/>
            <a:ext cx="640080" cy="640080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5" descr="/home/claude/icons/lock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68435" y="3728923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9564624" y="3593592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Clear, safe access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814816" y="4215384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Permissions keep each college's sensitive data private.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23444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TOOLKIT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234440" y="676656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The Atlassian Stack Behind It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234440" y="132588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Phase 1 runs entirely on Atlassian Cloud. Four core tools do the heavy lifting — no custom software needed to start.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960120" y="2468880"/>
            <a:ext cx="2596896" cy="324612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960120" y="2468880"/>
            <a:ext cx="2596896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960120" y="2971800"/>
            <a:ext cx="2596896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892808" y="2103120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6" descr="/home/claude/icons/tasks_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8373" y="22786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1097280" y="288036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Jira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097280" y="352044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EXECUTION ENGINE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234440" y="3977640"/>
            <a:ext cx="2048256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Tracks workstreams, action items, risks, blockers, owners and due dates.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794760" y="2468880"/>
            <a:ext cx="2596896" cy="324612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3794760" y="2468880"/>
            <a:ext cx="2596896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794760" y="2971800"/>
            <a:ext cx="2596896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727448" y="2103120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6" descr="/home/claude/icons/cubes_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3013" y="22786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3931920" y="288036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Confluence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931920" y="352044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KNOWLEDGE HUB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069080" y="3977640"/>
            <a:ext cx="2048256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Holds the executive overview, playbooks, decision logs and meeting notes.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629400" y="2468880"/>
            <a:ext cx="2596896" cy="324612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6629400" y="2468880"/>
            <a:ext cx="2596896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629400" y="2971800"/>
            <a:ext cx="2596896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7562088" y="2103120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6" descr="/home/claude/icons/dashboard_w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7653" y="22786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6766560" y="288036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Jira Dashboards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766560" y="352044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LIVE COCKPIT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903720" y="3977640"/>
            <a:ext cx="2048256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Hub dashboard plus one repeatable dashboard per college, built from saved filters.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464040" y="2468880"/>
            <a:ext cx="2596896" cy="324612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9464040" y="2468880"/>
            <a:ext cx="2596896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9464040" y="2971800"/>
            <a:ext cx="2596896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10396728" y="2103120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6" descr="/home/claude/icons/bolt_w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293" y="227868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9601200" y="288036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Jira Automation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9601200" y="352044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AUTOPILOT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9738360" y="3977640"/>
            <a:ext cx="2048256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Sends weekly reminders, overdue alerts and escalates blocked items automatically.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23444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234440" y="676656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How Work Is Organised in Jira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234440" y="132588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 flows from big goals down to daily tasks — a clear ladder so everyone knows where their piece fits.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914400" y="2011680"/>
            <a:ext cx="7498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914400" y="2011680"/>
            <a:ext cx="128016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1234440" y="212140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Outcome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234440" y="246888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Goal / Initiative  —  </a:t>
            </a:r>
            <a:r>
              <a:rPr lang="en-US" sz="12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Improve FIP outcomes for Phase 1 colleges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7" descr="/home/claude/icons/arro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1280160" y="2907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1417320" y="3090672"/>
            <a:ext cx="6995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417320" y="3090672"/>
            <a:ext cx="128016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1737360" y="3200400"/>
            <a:ext cx="64465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Workstream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737360" y="3547872"/>
            <a:ext cx="6446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Epic  —  </a:t>
            </a:r>
            <a:r>
              <a:rPr lang="en-US" sz="12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Faculty Upskilling · Project of Practice · Data &amp; Reporting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7" descr="/home/claude/icons/arro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1783080" y="398678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1920240" y="4169664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1920240" y="4169664"/>
            <a:ext cx="128016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2240280" y="4279392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Execution item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240280" y="4626864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Task  —  </a:t>
            </a:r>
            <a:r>
              <a:rPr lang="en-US" sz="12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Validate dashboard fields with the COEP PM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7" descr="/home/claude/icons/arro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2286000" y="50657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/>
          <p:nvPr/>
        </p:nvSpPr>
        <p:spPr>
          <a:xfrm>
            <a:off x="2423160" y="5248656"/>
            <a:ext cx="5989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2423160" y="5248656"/>
            <a:ext cx="128016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2743200" y="5358384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Risk / Decision / Update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743200" y="5705856"/>
            <a:ext cx="5440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Issue, comment or log  —  </a:t>
            </a:r>
            <a:r>
              <a:rPr lang="en-US" sz="12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Partner data-sharing clause delayed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869680" y="2011680"/>
            <a:ext cx="3063240" cy="4160520"/>
          </a:xfrm>
          <a:prstGeom prst="roundRect">
            <a:avLst>
              <a:gd name="adj" fmla="val 2985"/>
            </a:avLst>
          </a:prstGeom>
          <a:solidFill>
            <a:srgbClr val="0B2545"/>
          </a:solidFill>
          <a:ln>
            <a:noFill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9144000" y="2304288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9" name="Google Shape;199;p7" descr="/home/claude/icons/lay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75674" y="243596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9829800" y="22860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 Standard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Workstreams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9162288" y="3108960"/>
            <a:ext cx="2560320" cy="288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Governance &amp; Steering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Curriculum Alignment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Faculty Upskilling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Industry Partner Engagement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Student Cohort Formation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Project of Practice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VLSI Center of Excellence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Platform Integration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Lab &amp; Infrastructure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Internship &amp; Placement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Assessment &amp; Certification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Communications &amp; Outreach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&amp; Reporting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Compliance &amp; Agreements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Char char="•"/>
            </a:pPr>
            <a:r>
              <a:rPr lang="en-US" sz="108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Scale-up Readiness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23444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234440" y="676656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Two Dashboards, Two Audiences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14400" y="1554480"/>
            <a:ext cx="525780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914400" y="155448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914400" y="2103120"/>
            <a:ext cx="5257800" cy="4114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234440" y="181051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5" name="Google Shape;215;p8" descr="/home/claude/icons/hu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7310" y="191338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1828800" y="1700784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Hub Dashboard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828800" y="2084832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 ApniLeap core &amp; executives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325880" y="2788920"/>
            <a:ext cx="448056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Phase 1 status across ALL colleges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College-by-college comparison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Blocked, overdue &amp; stale items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FIP inputs: hiring, sign-ups, teams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FIP outputs: projects, IP, placements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update compliance by college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675120" y="1554480"/>
            <a:ext cx="525780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675120" y="155448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675120" y="2103120"/>
            <a:ext cx="52578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995160" y="181051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3" name="Google Shape;223;p8" descr="/home/claude/icons/dashboar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98030" y="191338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7589520" y="1700784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College Spoke Dashboard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589520" y="2084832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 each college's own team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086600" y="2788920"/>
            <a:ext cx="448056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college's workstream progress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action items by owner &amp; date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Blocked items &amp; asks for ApniLeap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Upcoming milestones &amp; overdue work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Clear ownership: PM, Director, lead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✓"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College-specific FIP metrics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23444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THE SMART ASSISTANT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234440" y="676656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Rovo Agents Read the Dashboards for You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234440" y="137160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Rovo is Atlassian's built-in AI. It doesn't replace the dashboards — it reads them, summarises what changed, spots missing updates and risks, and drafts review notes. It only ever sees what you're allowed to see.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14400" y="2331720"/>
            <a:ext cx="2670048" cy="1783080"/>
          </a:xfrm>
          <a:prstGeom prst="roundRect">
            <a:avLst>
              <a:gd name="adj" fmla="val 5128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188720" y="25877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9" name="Google Shape;239;p9" descr="/home/claude/icons/sync_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5880" y="27249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>
            <a:off x="1170432" y="3227832"/>
            <a:ext cx="22128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Tells you what changed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170432" y="3575304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Across ApniLeap and every college, week to week.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785616" y="2331720"/>
            <a:ext cx="2670048" cy="1783080"/>
          </a:xfrm>
          <a:prstGeom prst="roundRect">
            <a:avLst>
              <a:gd name="adj" fmla="val 5128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059936" y="25877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9" descr="/home/claude/icons/bell_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7096" y="27249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/>
          <p:nvPr/>
        </p:nvSpPr>
        <p:spPr>
          <a:xfrm>
            <a:off x="4041648" y="3227832"/>
            <a:ext cx="22128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Flags problems early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041648" y="3575304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Finds blocked, overdue, stale and sponsor-level items.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656832" y="2331720"/>
            <a:ext cx="2670048" cy="1783080"/>
          </a:xfrm>
          <a:prstGeom prst="roundRect">
            <a:avLst>
              <a:gd name="adj" fmla="val 5128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6931152" y="25877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p9" descr="/home/claude/icons/clipboard_w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8312" y="27249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/>
          <p:nvPr/>
        </p:nvSpPr>
        <p:spPr>
          <a:xfrm>
            <a:off x="6912864" y="3227832"/>
            <a:ext cx="22128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Drafts the reports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912864" y="3575304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Weekly portfolio notes and monthly FIP reviews.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9528048" y="2331720"/>
            <a:ext cx="2670048" cy="1783080"/>
          </a:xfrm>
          <a:prstGeom prst="roundRect">
            <a:avLst>
              <a:gd name="adj" fmla="val 5128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9802368" y="25877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4" name="Google Shape;254;p9" descr="/home/claude/icons/usershield_w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39528" y="27249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9"/>
          <p:cNvSpPr/>
          <p:nvPr/>
        </p:nvSpPr>
        <p:spPr>
          <a:xfrm>
            <a:off x="9784080" y="3227832"/>
            <a:ext cx="22128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Respects boundaries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9784080" y="3575304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Never shows one college's private data to another.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914400" y="4343400"/>
            <a:ext cx="10360152" cy="1783080"/>
          </a:xfrm>
          <a:prstGeom prst="roundRect">
            <a:avLst>
              <a:gd name="adj" fmla="val 5128"/>
            </a:avLst>
          </a:prstGeom>
          <a:solidFill>
            <a:srgbClr val="13315C"/>
          </a:solidFill>
          <a:ln w="1270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1234440" y="461772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9" descr="/home/claude/icons/robot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76172" y="47594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9"/>
          <p:cNvSpPr/>
          <p:nvPr/>
        </p:nvSpPr>
        <p:spPr>
          <a:xfrm>
            <a:off x="2011680" y="46177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One agent per scope — not one agent for everything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2011680" y="5029200"/>
            <a:ext cx="90525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Hub agent  </a:t>
            </a: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summarises the whole portfolio.   </a:t>
            </a:r>
            <a:r>
              <a:rPr lang="en-US" sz="13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Each college agent  </a:t>
            </a: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is locked to its own project, pages and people. Inside a college, </a:t>
            </a:r>
            <a:r>
              <a:rPr lang="en-US" sz="13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industry-connect sub-agents  </a:t>
            </a: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handle individual partner relationships (MoUs, worklets, mentors) — always asking a human before sending anything partner- or sponsor-facing.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23444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OPERATING RHYTHM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1234440" y="676656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How the Program Runs Each Week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914400" y="14173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MEETING CADENCE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914400" y="1828800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10"/>
          <p:cNvCxnSpPr/>
          <p:nvPr/>
        </p:nvCxnSpPr>
        <p:spPr>
          <a:xfrm>
            <a:off x="1051560" y="2103120"/>
            <a:ext cx="0" cy="777240"/>
          </a:xfrm>
          <a:prstGeom prst="straightConnector1">
            <a:avLst/>
          </a:prstGeom>
          <a:noFill/>
          <a:ln w="19050" cap="flat" cmpd="sng">
            <a:solidFill>
              <a:srgbClr val="00A896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74" name="Google Shape;274;p10"/>
          <p:cNvSpPr/>
          <p:nvPr/>
        </p:nvSpPr>
        <p:spPr>
          <a:xfrm>
            <a:off x="1417320" y="1709928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1417320" y="1709928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2788920" y="169164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Georgia"/>
              <a:buNone/>
            </a:pPr>
            <a:r>
              <a:rPr lang="en-US" sz="135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College PM update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2788920" y="198424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Action items, risks &amp; asks refreshed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914400" y="2907792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9" name="Google Shape;279;p10"/>
          <p:cNvCxnSpPr/>
          <p:nvPr/>
        </p:nvCxnSpPr>
        <p:spPr>
          <a:xfrm>
            <a:off x="1051560" y="3182112"/>
            <a:ext cx="0" cy="777240"/>
          </a:xfrm>
          <a:prstGeom prst="straightConnector1">
            <a:avLst/>
          </a:prstGeom>
          <a:noFill/>
          <a:ln w="19050" cap="flat" cmpd="sng">
            <a:solidFill>
              <a:srgbClr val="00A896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80" name="Google Shape;280;p10"/>
          <p:cNvSpPr/>
          <p:nvPr/>
        </p:nvSpPr>
        <p:spPr>
          <a:xfrm>
            <a:off x="1417320" y="278892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1417320" y="278892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788920" y="277063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Georgia"/>
              <a:buNone/>
            </a:pPr>
            <a:r>
              <a:rPr lang="en-US" sz="135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ApniLeap cohort checkpoint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2788920" y="3063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Cross-college blockers &amp; playbook fixes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914400" y="3986784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5" name="Google Shape;285;p10"/>
          <p:cNvCxnSpPr/>
          <p:nvPr/>
        </p:nvCxnSpPr>
        <p:spPr>
          <a:xfrm>
            <a:off x="1051560" y="4261104"/>
            <a:ext cx="0" cy="777240"/>
          </a:xfrm>
          <a:prstGeom prst="straightConnector1">
            <a:avLst/>
          </a:prstGeom>
          <a:noFill/>
          <a:ln w="19050" cap="flat" cmpd="sng">
            <a:solidFill>
              <a:srgbClr val="00A896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86" name="Google Shape;286;p10"/>
          <p:cNvSpPr/>
          <p:nvPr/>
        </p:nvSpPr>
        <p:spPr>
          <a:xfrm>
            <a:off x="1417320" y="3867912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1417320" y="3867912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Bi-weekly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788920" y="3849624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Georgia"/>
              <a:buNone/>
            </a:pPr>
            <a:r>
              <a:rPr lang="en-US" sz="135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Program Director review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2788920" y="41422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College cockpit review &amp; sponsor asks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914400" y="5065776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1417320" y="4946904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1417320" y="4946904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2788920" y="4928616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Georgia"/>
              <a:buNone/>
            </a:pPr>
            <a:r>
              <a:rPr lang="en-US" sz="135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FIP steering review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2788920" y="522122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Inputs, outputs, escalations &amp; decisions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355080" y="141732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6629400" y="1627632"/>
            <a:ext cx="502920" cy="502920"/>
          </a:xfrm>
          <a:prstGeom prst="ellipse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10" descr="/home/claude/icons/bol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5130" y="175336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"/>
          <p:cNvSpPr/>
          <p:nvPr/>
        </p:nvSpPr>
        <p:spPr>
          <a:xfrm>
            <a:off x="7269480" y="1673352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Automation does the chasing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675120" y="22860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✓"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Thursday — remind PMs to post updates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✓"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Blocked 7 days — alert the ApniLeap lead &amp; escalate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✓"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Due date passed — notify owner, flag RAG amber/red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✓"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High-severity risk — notify sponsor &amp; core team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✓"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Monthly — auto-build the FIP review agenda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355080" y="3931920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0B2545"/>
          </a:solidFill>
          <a:ln>
            <a:noFill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6629400" y="4142232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2" name="Google Shape;302;p10" descr="/home/claude/icons/shiel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5130" y="426796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0"/>
          <p:cNvSpPr/>
          <p:nvPr/>
        </p:nvSpPr>
        <p:spPr>
          <a:xfrm>
            <a:off x="7269480" y="4187952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Clear, safe access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675120" y="4754880"/>
            <a:ext cx="50292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Each college team edits only its own project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ApniLeap core can see and edit everything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Executives get read-only dashboard views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Sensitive partner / legal data stays restricted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23444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PLAN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1234440" y="676656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From Pilot to All Four Colleges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1234440" y="132588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Phase 1 starts small with COEP as the reference model, then copies that proven template to the other colleges.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914400" y="210312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914400" y="2103120"/>
            <a:ext cx="2084832" cy="146304"/>
          </a:xfrm>
          <a:prstGeom prst="rect">
            <a:avLst/>
          </a:prstGeom>
          <a:solidFill>
            <a:srgbClr val="5B7C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1572768" y="2468880"/>
            <a:ext cx="768096" cy="768096"/>
          </a:xfrm>
          <a:prstGeom prst="ellipse">
            <a:avLst/>
          </a:prstGeom>
          <a:solidFill>
            <a:srgbClr val="5B7C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1572768" y="246888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051560" y="3337560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PHASE 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078992" y="3584448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Licensing &amp; Ownership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371600" y="4187952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1188720" y="4187952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2–5 days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097280" y="4590288"/>
            <a:ext cx="17190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Confirm who owns the Atlassian subscription, the discount path and the launch user list.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11" descr="/home/claude/icons/arro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2656" y="26974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/>
          <p:nvPr/>
        </p:nvSpPr>
        <p:spPr>
          <a:xfrm>
            <a:off x="3163824" y="210312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3163824" y="2103120"/>
            <a:ext cx="2084832" cy="14630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3822192" y="2468880"/>
            <a:ext cx="768096" cy="7680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3822192" y="246888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3300984" y="3337560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328416" y="3584448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COEP Pilot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3621024" y="4187952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3438144" y="4187952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 week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3346704" y="4590288"/>
            <a:ext cx="17190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APNI-HUB and LEAP-COEP, set up fields, dashboards and the Confluence hub.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11" descr="/home/claude/icons/arro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2080" y="26974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1"/>
          <p:cNvSpPr/>
          <p:nvPr/>
        </p:nvSpPr>
        <p:spPr>
          <a:xfrm>
            <a:off x="5413248" y="210312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5413248" y="2103120"/>
            <a:ext cx="2084832" cy="1463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6071616" y="2468880"/>
            <a:ext cx="768096" cy="7680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6071616" y="246888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5550408" y="3337560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5577840" y="3584448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Template Hardening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870448" y="4187952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5687568" y="4187952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 week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5596128" y="4590288"/>
            <a:ext cx="17190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 the 15 workstreams, tune dashboards and automation, write the playbook.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11" descr="/home/claude/icons/arro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1504" y="26974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/>
          <p:nvPr/>
        </p:nvSpPr>
        <p:spPr>
          <a:xfrm>
            <a:off x="7662672" y="210312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7662672" y="2103120"/>
            <a:ext cx="2084832" cy="1463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8321040" y="2468880"/>
            <a:ext cx="768096" cy="7680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8321040" y="246888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7799832" y="3337560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7827264" y="3584448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MMCOEP · RIT · KLE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8119872" y="4187952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7936992" y="4187952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1–2 weeks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7845552" y="4590288"/>
            <a:ext cx="17190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Clone the structure, onboard PMs and get all four colleges reporting the same way.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11" descr="/home/claude/icons/arro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0928" y="26974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1"/>
          <p:cNvSpPr/>
          <p:nvPr/>
        </p:nvSpPr>
        <p:spPr>
          <a:xfrm>
            <a:off x="9912096" y="2103120"/>
            <a:ext cx="2084832" cy="324612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B2545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9912096" y="2103120"/>
            <a:ext cx="2084832" cy="146304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10570464" y="2468880"/>
            <a:ext cx="768096" cy="768096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10570464" y="246888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10049256" y="3337560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10076688" y="3584448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Scale &amp; Optimise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10369296" y="4187952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10186416" y="4187952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Ongoing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10094976" y="4590288"/>
            <a:ext cx="17190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Goals, advanced planning, analytics and new colleges as the program grows.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914400" y="5715000"/>
            <a:ext cx="10360152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1143000" y="585216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6" name="Google Shape;366;p11" descr="/home/claude/icons/fla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5583" y="5944743"/>
            <a:ext cx="226314" cy="22631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1"/>
          <p:cNvSpPr/>
          <p:nvPr/>
        </p:nvSpPr>
        <p:spPr>
          <a:xfrm>
            <a:off x="1737360" y="5715000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1 success looks like:  </a:t>
            </a: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all four colleges reporting in one model, and the monthly FIP review running entirely from live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/>
          <p:nvPr/>
        </p:nvSpPr>
        <p:spPr>
          <a:xfrm>
            <a:off x="10698480" y="640080"/>
            <a:ext cx="822960" cy="8229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4" name="Google Shape;374;p12" descr="/home/claude/icons/rocke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4220" y="845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731520" y="114300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to Remember About Phase 1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731520" y="214884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987552" y="244602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9" name="Google Shape;379;p12" descr="/home/claude/icons/hub_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572" y="2606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2"/>
          <p:cNvSpPr/>
          <p:nvPr/>
        </p:nvSpPr>
        <p:spPr>
          <a:xfrm>
            <a:off x="1783080" y="23134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Hub-and-spoke model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783080" y="2679192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ApniLeap sees the portfolio; each college runs its own work — on the same data.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446520" y="214884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6702552" y="244602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4" name="Google Shape;384;p12" descr="/home/claude/icons/sitemap_w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2572" y="2606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2"/>
          <p:cNvSpPr/>
          <p:nvPr/>
        </p:nvSpPr>
        <p:spPr>
          <a:xfrm>
            <a:off x="7498080" y="23134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COEP leads the way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7498080" y="2679192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Prove the template on one college, then clone it to MMCOEP, RIT and KLE.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731520" y="36576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987552" y="39547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" name="Google Shape;389;p12" descr="/home/claude/icons/cubes_w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7572" y="4114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2"/>
          <p:cNvSpPr/>
          <p:nvPr/>
        </p:nvSpPr>
        <p:spPr>
          <a:xfrm>
            <a:off x="1783080" y="382219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Atlassian Cloud, no custom build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1783080" y="4187952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Jira + Confluence + Dashboards + Automation handle everything in Phase 1.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6446520" y="36576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702552" y="39547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4" name="Google Shape;394;p12" descr="/home/claude/icons/robot_w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2572" y="4114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2"/>
          <p:cNvSpPr/>
          <p:nvPr/>
        </p:nvSpPr>
        <p:spPr>
          <a:xfrm>
            <a:off x="7498080" y="382219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that respects boundaries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7498080" y="4187952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Rovo agents summarise and draft, scoped tightly to who is allowed to see what.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731520" y="51663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987552" y="546354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9" name="Google Shape;399;p12" descr="/home/claude/icons/sync_w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7572" y="5623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2"/>
          <p:cNvSpPr/>
          <p:nvPr/>
        </p:nvSpPr>
        <p:spPr>
          <a:xfrm>
            <a:off x="1783080" y="53309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Update once, see everywhere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1783080" y="5696712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Jira is the single source of truth — no parallel spreadsheets, no double reporting.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6446520" y="51663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6702552" y="546354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4" name="Google Shape;404;p12" descr="/home/claude/icons/flag_w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62572" y="5623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2"/>
          <p:cNvSpPr/>
          <p:nvPr/>
        </p:nvSpPr>
        <p:spPr>
          <a:xfrm>
            <a:off x="7498080" y="53309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Clear finish line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7498080" y="5696712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Four colleges live in one model, with a monthly FIP review from real data.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1201</Words>
  <Application>Microsoft Office PowerPoint</Application>
  <PresentationFormat>Widescreen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Amit</cp:lastModifiedBy>
  <cp:revision>1</cp:revision>
  <dcterms:modified xsi:type="dcterms:W3CDTF">2026-05-20T16:19:58Z</dcterms:modified>
</cp:coreProperties>
</file>